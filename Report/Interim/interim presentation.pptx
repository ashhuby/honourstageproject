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256" r:id="rId5"/>
    <p:sldId id="298" r:id="rId6"/>
    <p:sldId id="277" r:id="rId7"/>
    <p:sldId id="295" r:id="rId8"/>
    <p:sldId id="299" r:id="rId9"/>
    <p:sldId id="296" r:id="rId10"/>
    <p:sldId id="261" r:id="rId11"/>
    <p:sldId id="300" r:id="rId12"/>
    <p:sldId id="289" r:id="rId13"/>
    <p:sldId id="301" r:id="rId14"/>
    <p:sldId id="302" r:id="rId15"/>
    <p:sldId id="303" r:id="rId16"/>
    <p:sldId id="304" r:id="rId17"/>
    <p:sldId id="264" r:id="rId18"/>
    <p:sldId id="262" r:id="rId19"/>
    <p:sldId id="305" r:id="rId20"/>
    <p:sldId id="306" r:id="rId21"/>
    <p:sldId id="307" r:id="rId22"/>
    <p:sldId id="30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1320" y="39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591" y="2385391"/>
            <a:ext cx="9554818" cy="1700659"/>
          </a:xfrm>
        </p:spPr>
        <p:txBody>
          <a:bodyPr/>
          <a:lstStyle/>
          <a:p>
            <a:pPr algn="ctr"/>
            <a:r>
              <a:rPr lang="en-GB" sz="3200" dirty="0"/>
              <a:t>From Fragmented Journeys to Unified Experiences: </a:t>
            </a:r>
            <a:br>
              <a:rPr lang="en-GB" sz="3200" dirty="0"/>
            </a:br>
            <a:r>
              <a:rPr lang="en-GB" sz="3200" dirty="0"/>
              <a:t>Investigating Multifunctional Mobile App Design Through a Fitness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163" y="6063968"/>
            <a:ext cx="3682116" cy="396660"/>
          </a:xfrm>
        </p:spPr>
        <p:txBody>
          <a:bodyPr>
            <a:normAutofit fontScale="92500"/>
          </a:bodyPr>
          <a:lstStyle/>
          <a:p>
            <a:r>
              <a:rPr lang="en-US" dirty="0"/>
              <a:t>Marwan Ashhuby – Interim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A6D5-B1C7-496B-34B2-6791EAE0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21C3-EFF2-1AEC-1806-09EBA2195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749" y="2924092"/>
            <a:ext cx="6068502" cy="872656"/>
          </a:xfrm>
        </p:spPr>
        <p:txBody>
          <a:bodyPr/>
          <a:lstStyle/>
          <a:p>
            <a:pPr algn="ctr"/>
            <a:r>
              <a:rPr lang="en-GB" b="1" dirty="0"/>
              <a:t>SECTION 1: THE PROBLEM </a:t>
            </a:r>
          </a:p>
        </p:txBody>
      </p:sp>
    </p:spTree>
    <p:extLst>
      <p:ext uri="{BB962C8B-B14F-4D97-AF65-F5344CB8AC3E}">
        <p14:creationId xmlns:p14="http://schemas.microsoft.com/office/powerpoint/2010/main" val="36735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1325563"/>
          </a:xfrm>
        </p:spPr>
        <p:txBody>
          <a:bodyPr>
            <a:normAutofit/>
          </a:bodyPr>
          <a:lstStyle/>
          <a:p>
            <a:r>
              <a:rPr lang="en-US" dirty="0"/>
              <a:t>The Problem: </a:t>
            </a:r>
            <a:br>
              <a:rPr lang="en-US" dirty="0"/>
            </a:br>
            <a:r>
              <a:rPr lang="en-US" dirty="0"/>
              <a:t>Fragmented Digital Journeys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346009"/>
            <a:ext cx="6836466" cy="357771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Real task, real friction:</a:t>
            </a:r>
          </a:p>
          <a:p>
            <a:r>
              <a:rPr lang="en-US" dirty="0"/>
              <a:t>- Check workout plan → Notes app</a:t>
            </a:r>
          </a:p>
          <a:p>
            <a:r>
              <a:rPr lang="en-US" dirty="0"/>
              <a:t>- Time rest periods → Stopwatch app  </a:t>
            </a:r>
          </a:p>
          <a:p>
            <a:r>
              <a:rPr lang="en-US" dirty="0"/>
              <a:t>- Log weight/reps → Tracker app</a:t>
            </a:r>
          </a:p>
          <a:p>
            <a:r>
              <a:rPr lang="en-US" dirty="0"/>
              <a:t>- View progress → Separate analytics app</a:t>
            </a:r>
          </a:p>
          <a:p>
            <a:endParaRPr lang="en-US" dirty="0"/>
          </a:p>
          <a:p>
            <a:r>
              <a:rPr lang="en-US" dirty="0"/>
              <a:t>The user becomes the integrator.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360D-3A95-D965-849A-530A4600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89C2-0AB7-58D2-416E-5AFD7CA718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Autoethnography: </a:t>
            </a:r>
            <a:br>
              <a:rPr lang="en-US" dirty="0"/>
            </a:br>
            <a:r>
              <a:rPr lang="en-US" dirty="0"/>
              <a:t>Measuring the Fragmentation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35FD5-3E29-F456-3F1A-77A551796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332" y="2609953"/>
            <a:ext cx="5699761" cy="2601229"/>
          </a:xfrm>
        </p:spPr>
        <p:txBody>
          <a:bodyPr>
            <a:normAutofit fontScale="92500"/>
          </a:bodyPr>
          <a:lstStyle/>
          <a:p>
            <a:endParaRPr lang="en-US" sz="500" dirty="0"/>
          </a:p>
          <a:p>
            <a:r>
              <a:rPr lang="en-US" sz="2000" dirty="0"/>
              <a:t>One gym session, 52 minutes:</a:t>
            </a:r>
          </a:p>
          <a:p>
            <a:r>
              <a:rPr lang="en-US" sz="2000" dirty="0"/>
              <a:t>Literature alignment:</a:t>
            </a:r>
          </a:p>
          <a:p>
            <a:r>
              <a:rPr lang="en-US" sz="2000" dirty="0" err="1"/>
              <a:t>Oulasvirta</a:t>
            </a:r>
            <a:r>
              <a:rPr lang="en-US" sz="2000" dirty="0"/>
              <a:t> (2005) — "Interaction in 4-second bursts"</a:t>
            </a:r>
          </a:p>
          <a:p>
            <a:r>
              <a:rPr lang="en-US" sz="2000" dirty="0"/>
              <a:t>González &amp; Mark (2004) — Context switching costs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850DD7-296C-B307-8AA5-D08FA9B2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9EBC-523D-FFE2-09CC-ECFDCCD1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481AD-B0BC-11B9-C4E4-B08940A9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14172F-325C-7C9F-7176-F73467D8E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599513"/>
              </p:ext>
            </p:extLst>
          </p:nvPr>
        </p:nvGraphicFramePr>
        <p:xfrm>
          <a:off x="929584" y="2899648"/>
          <a:ext cx="4812748" cy="20218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406374">
                  <a:extLst>
                    <a:ext uri="{9D8B030D-6E8A-4147-A177-3AD203B41FA5}">
                      <a16:colId xmlns:a16="http://schemas.microsoft.com/office/drawing/2014/main" val="2150611781"/>
                    </a:ext>
                  </a:extLst>
                </a:gridCol>
                <a:gridCol w="2406374">
                  <a:extLst>
                    <a:ext uri="{9D8B030D-6E8A-4147-A177-3AD203B41FA5}">
                      <a16:colId xmlns:a16="http://schemas.microsoft.com/office/drawing/2014/main" val="41799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58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 Switches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8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 spent between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 minutes 27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88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Cognitive reorientation events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~23 (each switch)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15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83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624B-AFC8-AD28-8579-90EB9B6E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8D34-A426-2862-83B4-E55F1A73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596" y="2968487"/>
            <a:ext cx="7188808" cy="649357"/>
          </a:xfrm>
        </p:spPr>
        <p:txBody>
          <a:bodyPr/>
          <a:lstStyle/>
          <a:p>
            <a:pPr algn="ctr"/>
            <a:r>
              <a:rPr lang="en-GB" b="1" dirty="0"/>
              <a:t>SECTION 2: THE LITERATURE</a:t>
            </a:r>
          </a:p>
        </p:txBody>
      </p:sp>
    </p:spTree>
    <p:extLst>
      <p:ext uri="{BB962C8B-B14F-4D97-AF65-F5344CB8AC3E}">
        <p14:creationId xmlns:p14="http://schemas.microsoft.com/office/powerpoint/2010/main" val="269857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B80B-ABA0-7123-FBF8-8476F4D4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9CE6-DDAA-04B6-1835-8094F2B2D4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626373"/>
          </a:xfrm>
        </p:spPr>
        <p:txBody>
          <a:bodyPr>
            <a:normAutofit/>
          </a:bodyPr>
          <a:lstStyle/>
          <a:p>
            <a:r>
              <a:rPr lang="en-GB" dirty="0"/>
              <a:t>Theoretical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543E8-3388-258C-542D-921A64580F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539" y="4539821"/>
            <a:ext cx="4253948" cy="1702905"/>
          </a:xfrm>
        </p:spPr>
        <p:txBody>
          <a:bodyPr>
            <a:normAutofit/>
          </a:bodyPr>
          <a:lstStyle/>
          <a:p>
            <a:r>
              <a:rPr lang="en-US" dirty="0"/>
              <a:t>Frameworks That Explain the Friction</a:t>
            </a:r>
          </a:p>
          <a:p>
            <a:r>
              <a:rPr lang="en-US" dirty="0"/>
              <a:t>The gap: Most usability evaluation is interface-level.</a:t>
            </a:r>
          </a:p>
          <a:p>
            <a:r>
              <a:rPr lang="en-US" dirty="0"/>
              <a:t>We need journey-level evaluation.</a:t>
            </a:r>
            <a:endParaRPr lang="en-US" sz="6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CD3AC0-8192-EE16-8A03-36DB9CA6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6667E-FB22-FA4C-C37B-A88D30BF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6C9E5-480F-2B49-8540-7920BCFE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84F9E8-0907-6452-5709-4F3829C20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612678"/>
              </p:ext>
            </p:extLst>
          </p:nvPr>
        </p:nvGraphicFramePr>
        <p:xfrm>
          <a:off x="2111514" y="1860798"/>
          <a:ext cx="8127999" cy="25654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768367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882849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41288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HCI Foundation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Mobile Reality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 Target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098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Norman (2013): Gulfs of Execution &amp; Evaluation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Oulasvirta</a:t>
                      </a:r>
                      <a:r>
                        <a:rPr lang="en-US" sz="1800" dirty="0"/>
                        <a:t> (2005): 4-second bursts, divided attention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Cognitive load reduction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42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Nielsen (1994): Heuristics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González &amp; Mark (2004): Task switching costs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Journey continuity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3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Shneiderman</a:t>
                      </a:r>
                      <a:r>
                        <a:rPr lang="en-US" sz="1800" dirty="0"/>
                        <a:t> (2017): Direct manipulation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Porcheron</a:t>
                      </a:r>
                      <a:r>
                        <a:rPr lang="en-US" sz="1800" dirty="0"/>
                        <a:t> (2018): Voice, hands-free contexts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Recognition over recall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616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12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642" y="699715"/>
            <a:ext cx="6384235" cy="585788"/>
          </a:xfrm>
        </p:spPr>
        <p:txBody>
          <a:bodyPr>
            <a:normAutofit fontScale="90000"/>
          </a:bodyPr>
          <a:lstStyle/>
          <a:p>
            <a:r>
              <a:rPr lang="en-GB" dirty="0"/>
              <a:t>Service Design &amp; The Journey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3525" y="1285503"/>
            <a:ext cx="3730487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From Interfaces to Journeys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904" y="2491327"/>
            <a:ext cx="4341329" cy="514350"/>
          </a:xfrm>
        </p:spPr>
        <p:txBody>
          <a:bodyPr/>
          <a:lstStyle/>
          <a:p>
            <a:r>
              <a:rPr lang="en-GB" dirty="0"/>
              <a:t>Service Design (Stickdorn &amp; Schneider, 2012):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64568" y="3608589"/>
            <a:ext cx="2141764" cy="514350"/>
          </a:xfrm>
        </p:spPr>
        <p:txBody>
          <a:bodyPr/>
          <a:lstStyle/>
          <a:p>
            <a:r>
              <a:rPr lang="en-GB" dirty="0" err="1"/>
              <a:t>Polaine</a:t>
            </a:r>
            <a:r>
              <a:rPr lang="en-GB" dirty="0"/>
              <a:t>, Løvlie, Reason (2013):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88705" y="4981913"/>
            <a:ext cx="2141764" cy="514350"/>
          </a:xfrm>
        </p:spPr>
        <p:txBody>
          <a:bodyPr/>
          <a:lstStyle/>
          <a:p>
            <a:r>
              <a:rPr lang="en-GB" dirty="0"/>
              <a:t>The shift: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53507" y="2428183"/>
            <a:ext cx="3886302" cy="431697"/>
          </a:xfrm>
        </p:spPr>
        <p:txBody>
          <a:bodyPr/>
          <a:lstStyle/>
          <a:p>
            <a:r>
              <a:rPr lang="en-GB" dirty="0"/>
              <a:t>"Experiences are sequences, not events."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14012" y="3429000"/>
            <a:ext cx="3534249" cy="778565"/>
          </a:xfrm>
        </p:spPr>
        <p:txBody>
          <a:bodyPr/>
          <a:lstStyle/>
          <a:p>
            <a:r>
              <a:rPr lang="en-GB" dirty="0"/>
              <a:t>Usability is not touchpoint quality.</a:t>
            </a:r>
          </a:p>
          <a:p>
            <a:r>
              <a:rPr lang="en-GB" dirty="0"/>
              <a:t>It's how touchpoints work together.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3507" y="4931965"/>
            <a:ext cx="4620927" cy="875300"/>
          </a:xfrm>
        </p:spPr>
        <p:txBody>
          <a:bodyPr/>
          <a:lstStyle/>
          <a:p>
            <a:r>
              <a:rPr lang="en-GB" dirty="0"/>
              <a:t>From "Is this app usable?"</a:t>
            </a:r>
          </a:p>
          <a:p>
            <a:r>
              <a:rPr lang="en-GB" dirty="0"/>
              <a:t>To "Does this ecosystem support coherent progress?"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D8E32-A394-08D9-505A-DA3A6149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7B43-24E4-CFCF-E39F-A350FEFCD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749" y="2924092"/>
            <a:ext cx="6068502" cy="872656"/>
          </a:xfrm>
        </p:spPr>
        <p:txBody>
          <a:bodyPr/>
          <a:lstStyle/>
          <a:p>
            <a:pPr algn="ctr"/>
            <a:r>
              <a:rPr lang="en-GB" b="1" dirty="0"/>
              <a:t>SECTION 3: THE ANALYSIS</a:t>
            </a:r>
          </a:p>
        </p:txBody>
      </p:sp>
    </p:spTree>
    <p:extLst>
      <p:ext uri="{BB962C8B-B14F-4D97-AF65-F5344CB8AC3E}">
        <p14:creationId xmlns:p14="http://schemas.microsoft.com/office/powerpoint/2010/main" val="406954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69" y="552525"/>
            <a:ext cx="5249848" cy="1307535"/>
          </a:xfrm>
        </p:spPr>
        <p:txBody>
          <a:bodyPr>
            <a:normAutofit/>
          </a:bodyPr>
          <a:lstStyle/>
          <a:p>
            <a:r>
              <a:rPr lang="en-GB" b="1" dirty="0"/>
              <a:t>Cognitive Walkthrough: Two Paradigms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Comparative Analysis: Meta vs WeChat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Same goal: Coordinate lunch, pay a friend, share a photo.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Two radically different architectural philosophies.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We ask: What explains the difference in user experience?</a:t>
            </a:r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8A89E8-D01A-6EDE-779E-0C8B6EC00C2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06F1E9-746C-0C52-EFD6-838EA793F5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26CFC93-3BE4-D5C5-CC6D-1CC7A5197FD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AFE26E0-1A2B-4911-0AE8-FB14842534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0C42B0F-2F8C-0CBB-D1DD-0A0F3B0034D0}"/>
              </a:ext>
            </a:extLst>
          </p:cNvPr>
          <p:cNvGrpSpPr/>
          <p:nvPr/>
        </p:nvGrpSpPr>
        <p:grpSpPr>
          <a:xfrm>
            <a:off x="371759" y="1710871"/>
            <a:ext cx="2970819" cy="4403836"/>
            <a:chOff x="0" y="0"/>
            <a:chExt cx="5382895" cy="797941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85D5CEB-3E7F-C7F5-91E9-A32767A76B00}"/>
                </a:ext>
              </a:extLst>
            </p:cNvPr>
            <p:cNvGrpSpPr/>
            <p:nvPr/>
          </p:nvGrpSpPr>
          <p:grpSpPr>
            <a:xfrm>
              <a:off x="0" y="0"/>
              <a:ext cx="5382895" cy="7979410"/>
              <a:chOff x="0" y="0"/>
              <a:chExt cx="5382895" cy="7979410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C6F7239-8085-02CA-0E40-D9DEB22BF3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8100"/>
                <a:ext cx="1809115" cy="39598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DA130BB4-5B5A-1EDD-918E-C48E8303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0925" y="0"/>
                <a:ext cx="1791970" cy="39598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EE01FA7-9104-526F-312A-767AA065A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975" y="4019550"/>
                <a:ext cx="1786255" cy="39598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2E37D76-2A71-99D1-7912-2387217DA8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47"/>
              <a:stretch>
                <a:fillRect/>
              </a:stretch>
            </p:blipFill>
            <p:spPr bwMode="auto">
              <a:xfrm>
                <a:off x="3400425" y="4019550"/>
                <a:ext cx="1816100" cy="3959860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6635B10-FAB7-8A37-9080-E1704A6FC9E0}"/>
                  </a:ext>
                </a:extLst>
              </p:cNvPr>
              <p:cNvCxnSpPr/>
              <p:nvPr/>
            </p:nvCxnSpPr>
            <p:spPr>
              <a:xfrm flipH="1">
                <a:off x="2028825" y="2085975"/>
                <a:ext cx="2375064" cy="3823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6FCE45D5-9D91-C129-829B-C7BA6B0DD4BC}"/>
                  </a:ext>
                </a:extLst>
              </p:cNvPr>
              <p:cNvCxnSpPr/>
              <p:nvPr/>
            </p:nvCxnSpPr>
            <p:spPr>
              <a:xfrm>
                <a:off x="2400300" y="6324600"/>
                <a:ext cx="8668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F605B0D-17FD-DE01-B959-1AF287C5B590}"/>
                </a:ext>
              </a:extLst>
            </p:cNvPr>
            <p:cNvCxnSpPr/>
            <p:nvPr/>
          </p:nvCxnSpPr>
          <p:spPr>
            <a:xfrm flipV="1">
              <a:off x="744279" y="1494761"/>
              <a:ext cx="3028208" cy="16150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 descr="A screenshot of a chat&#10;&#10;AI-generated content may be incorrect.">
            <a:extLst>
              <a:ext uri="{FF2B5EF4-FFF2-40B4-BE49-F238E27FC236}">
                <a16:creationId xmlns:a16="http://schemas.microsoft.com/office/drawing/2014/main" id="{8F2EFF03-2C3A-D8F1-32F3-1CFBAC3386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189" y="2202002"/>
            <a:ext cx="1624325" cy="28947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9E7B-4E35-5AC8-133F-DAC8C6599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4617-72E4-A87E-191C-D6A99BF17A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626373"/>
          </a:xfrm>
        </p:spPr>
        <p:txBody>
          <a:bodyPr>
            <a:normAutofit/>
          </a:bodyPr>
          <a:lstStyle/>
          <a:p>
            <a:r>
              <a:rPr lang="en-GB" dirty="0"/>
              <a:t>The Meta Trap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B966DB-7AE1-451E-F128-E54C3CD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F7B64-5BA7-12D5-B998-D4849A77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9515-7983-4803-62FF-AD14EBA2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FFB91B-E173-D105-F01C-A6848D77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696279"/>
            <a:ext cx="3819229" cy="3747260"/>
          </a:xfrm>
        </p:spPr>
        <p:txBody>
          <a:bodyPr>
            <a:normAutofit/>
          </a:bodyPr>
          <a:lstStyle/>
          <a:p>
            <a:r>
              <a:rPr lang="en-GB" dirty="0"/>
              <a:t>Meta: Fragmented Federation</a:t>
            </a:r>
          </a:p>
          <a:p>
            <a:endParaRPr lang="en-GB" dirty="0"/>
          </a:p>
          <a:p>
            <a:r>
              <a:rPr lang="en-GB" dirty="0"/>
              <a:t>WhatsApp → Banking App → Instagram</a:t>
            </a:r>
          </a:p>
          <a:p>
            <a:endParaRPr lang="en-GB" dirty="0"/>
          </a:p>
          <a:p>
            <a:r>
              <a:rPr lang="en-GB" dirty="0"/>
              <a:t>Gulf of Execution: High — user moves data manually</a:t>
            </a:r>
          </a:p>
          <a:p>
            <a:r>
              <a:rPr lang="en-GB" dirty="0"/>
              <a:t>Gulf of Evaluation: High — success state in three places</a:t>
            </a:r>
          </a:p>
          <a:p>
            <a:r>
              <a:rPr lang="en-GB" dirty="0"/>
              <a:t>Context Switching: Severe — mental reload per app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36383E-495A-2DC1-8D19-AA808260F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31066"/>
              </p:ext>
            </p:extLst>
          </p:nvPr>
        </p:nvGraphicFramePr>
        <p:xfrm>
          <a:off x="5928139" y="2309943"/>
          <a:ext cx="4713358" cy="33832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356679">
                  <a:extLst>
                    <a:ext uri="{9D8B030D-6E8A-4147-A177-3AD203B41FA5}">
                      <a16:colId xmlns:a16="http://schemas.microsoft.com/office/drawing/2014/main" val="3660292390"/>
                    </a:ext>
                  </a:extLst>
                </a:gridCol>
                <a:gridCol w="2356679">
                  <a:extLst>
                    <a:ext uri="{9D8B030D-6E8A-4147-A177-3AD203B41FA5}">
                      <a16:colId xmlns:a16="http://schemas.microsoft.com/office/drawing/2014/main" val="1275060310"/>
                    </a:ext>
                  </a:extLst>
                </a:gridCol>
              </a:tblGrid>
              <a:tr h="300621">
                <a:tc>
                  <a:txBody>
                    <a:bodyPr/>
                    <a:lstStyle/>
                    <a:p>
                      <a:r>
                        <a:rPr lang="en-GB" b="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Friction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76753"/>
                  </a:ext>
                </a:extLst>
              </a:tr>
              <a:tr h="5260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 lunch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Copy/paste address, leave chat for Maps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4562"/>
                  </a:ext>
                </a:extLst>
              </a:tr>
              <a:tr h="751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 friend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Exit ecosystem,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FaceID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manual entry, no chat feedback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427536"/>
                  </a:ext>
                </a:extLst>
              </a:tr>
              <a:tr h="751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 photo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trapped in IG, cross-link back to WhatsApp manually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187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42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D8A6-AA3C-4405-F9E2-8B94CB28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6A66-B99B-9345-E076-CCD211B7B6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626373"/>
          </a:xfrm>
        </p:spPr>
        <p:txBody>
          <a:bodyPr>
            <a:normAutofit/>
          </a:bodyPr>
          <a:lstStyle/>
          <a:p>
            <a:r>
              <a:rPr lang="en-GB" dirty="0"/>
              <a:t>WeChat: The Encapsulated Super-App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CCD2C3-042B-20C9-35B9-D7F5CFCA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529E2-ED85-0414-2D12-DEDB0D0B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B95E2-5560-B406-1A3E-64B6718A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CF01B5-E7EB-9009-5C2E-C8538609D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696279"/>
            <a:ext cx="3819229" cy="3747260"/>
          </a:xfrm>
        </p:spPr>
        <p:txBody>
          <a:bodyPr>
            <a:normAutofit/>
          </a:bodyPr>
          <a:lstStyle/>
          <a:p>
            <a:r>
              <a:rPr lang="en-GB" dirty="0"/>
              <a:t>WeChat: Zero-Exit Journey</a:t>
            </a:r>
          </a:p>
          <a:p>
            <a:endParaRPr lang="en-GB" dirty="0"/>
          </a:p>
          <a:p>
            <a:r>
              <a:rPr lang="en-GB" dirty="0"/>
              <a:t>Chat → Red Packet → Moments</a:t>
            </a:r>
          </a:p>
          <a:p>
            <a:endParaRPr lang="en-GB" dirty="0"/>
          </a:p>
          <a:p>
            <a:r>
              <a:rPr lang="en-GB" dirty="0"/>
              <a:t>Gulf of Execution: Low — actions available in context</a:t>
            </a:r>
          </a:p>
          <a:p>
            <a:r>
              <a:rPr lang="en-GB" dirty="0"/>
              <a:t>Gulf of Evaluation: Low — feedback visible to both parties</a:t>
            </a:r>
          </a:p>
          <a:p>
            <a:r>
              <a:rPr lang="en-GB" dirty="0"/>
              <a:t>Context Switching: Zero — single identity, single environment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74FAD-582F-5D60-2CF7-0E380FCFC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674325"/>
              </p:ext>
            </p:extLst>
          </p:nvPr>
        </p:nvGraphicFramePr>
        <p:xfrm>
          <a:off x="5928139" y="2375082"/>
          <a:ext cx="5157304" cy="31089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8652">
                  <a:extLst>
                    <a:ext uri="{9D8B030D-6E8A-4147-A177-3AD203B41FA5}">
                      <a16:colId xmlns:a16="http://schemas.microsoft.com/office/drawing/2014/main" val="3660292390"/>
                    </a:ext>
                  </a:extLst>
                </a:gridCol>
                <a:gridCol w="2578652">
                  <a:extLst>
                    <a:ext uri="{9D8B030D-6E8A-4147-A177-3AD203B41FA5}">
                      <a16:colId xmlns:a16="http://schemas.microsoft.com/office/drawing/2014/main" val="1275060310"/>
                    </a:ext>
                  </a:extLst>
                </a:gridCol>
              </a:tblGrid>
              <a:tr h="300621">
                <a:tc>
                  <a:txBody>
                    <a:bodyPr/>
                    <a:lstStyle/>
                    <a:p>
                      <a:r>
                        <a:rPr lang="en-GB" b="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76753"/>
                  </a:ext>
                </a:extLst>
              </a:tr>
              <a:tr h="5260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 lunch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Built-in browser/mini-programs, never leave chat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4562"/>
                  </a:ext>
                </a:extLst>
              </a:tr>
              <a:tr h="751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 friend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Red Packet — payment inside chat thread, shared receipt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427536"/>
                  </a:ext>
                </a:extLst>
              </a:tr>
              <a:tr h="751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 photo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Moments — same social graph, tag friend directly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187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7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64BC-B0E1-3783-6CB7-435591D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331F-8966-EE18-3895-04AE84D4E9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8817666" cy="626373"/>
          </a:xfrm>
        </p:spPr>
        <p:txBody>
          <a:bodyPr>
            <a:normAutofit/>
          </a:bodyPr>
          <a:lstStyle/>
          <a:p>
            <a:r>
              <a:rPr lang="en-GB" dirty="0"/>
              <a:t>Synthesis: What We Learn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25FCB-0679-BE1C-266E-C97F7C64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104EB-488D-4F3C-5B02-3E3A905E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E11D2-2E4A-892E-E855-23CB57C5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471C65-3594-9252-6AA8-3D408A9D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130" y="2473519"/>
            <a:ext cx="3819229" cy="3747260"/>
          </a:xfrm>
        </p:spPr>
        <p:txBody>
          <a:bodyPr>
            <a:normAutofit/>
          </a:bodyPr>
          <a:lstStyle/>
          <a:p>
            <a:r>
              <a:rPr lang="en-GB" dirty="0"/>
              <a:t>From WeChat:</a:t>
            </a:r>
          </a:p>
          <a:p>
            <a:r>
              <a:rPr lang="en-GB" dirty="0"/>
              <a:t>1. Actions should be available in context of the conversation/activity</a:t>
            </a:r>
          </a:p>
          <a:p>
            <a:r>
              <a:rPr lang="en-GB" dirty="0"/>
              <a:t>2. Feedback should be shared between parties (closed loops)</a:t>
            </a:r>
          </a:p>
          <a:p>
            <a:r>
              <a:rPr lang="en-GB" dirty="0"/>
              <a:t>3. Identity and social graph should persist across functions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721C2AF-69CB-4373-4C6D-4B7C2C59CBE1}"/>
              </a:ext>
            </a:extLst>
          </p:cNvPr>
          <p:cNvSpPr txBox="1">
            <a:spLocks/>
          </p:cNvSpPr>
          <p:nvPr/>
        </p:nvSpPr>
        <p:spPr>
          <a:xfrm>
            <a:off x="6331936" y="2473519"/>
            <a:ext cx="3819229" cy="3747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From Meta's failure:</a:t>
            </a:r>
          </a:p>
          <a:p>
            <a:r>
              <a:rPr lang="en-GB" dirty="0"/>
              <a:t>4. Aggregation ≠ integration</a:t>
            </a:r>
          </a:p>
          <a:p>
            <a:r>
              <a:rPr lang="en-GB" dirty="0"/>
              <a:t>5. Users should not manually move data between apps</a:t>
            </a:r>
          </a:p>
          <a:p>
            <a:r>
              <a:rPr lang="en-GB" dirty="0"/>
              <a:t>6. Notification debt accumulates across disconnected </a:t>
            </a:r>
            <a:r>
              <a:rPr lang="en-GB" dirty="0" err="1"/>
              <a:t>centers</a:t>
            </a:r>
            <a:endParaRPr lang="en-GB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EB6816E2-DD09-76FF-D4DA-940319783102}"/>
              </a:ext>
            </a:extLst>
          </p:cNvPr>
          <p:cNvSpPr txBox="1">
            <a:spLocks/>
          </p:cNvSpPr>
          <p:nvPr/>
        </p:nvSpPr>
        <p:spPr>
          <a:xfrm>
            <a:off x="1333499" y="1703899"/>
            <a:ext cx="3819229" cy="3747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Design Principles from the Walkthrough</a:t>
            </a:r>
          </a:p>
        </p:txBody>
      </p:sp>
    </p:spTree>
    <p:extLst>
      <p:ext uri="{BB962C8B-B14F-4D97-AF65-F5344CB8AC3E}">
        <p14:creationId xmlns:p14="http://schemas.microsoft.com/office/powerpoint/2010/main" val="3827720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4677-33C8-D910-89F3-E02E2A88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147E-3CD7-6FDD-DE77-8A9C9D40A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596" y="2968487"/>
            <a:ext cx="7188808" cy="649357"/>
          </a:xfrm>
        </p:spPr>
        <p:txBody>
          <a:bodyPr/>
          <a:lstStyle/>
          <a:p>
            <a:pPr algn="ctr"/>
            <a:r>
              <a:rPr lang="en-GB" b="1" dirty="0"/>
              <a:t>SECTION 4: THE RESPONSE</a:t>
            </a:r>
          </a:p>
        </p:txBody>
      </p:sp>
    </p:spTree>
    <p:extLst>
      <p:ext uri="{BB962C8B-B14F-4D97-AF65-F5344CB8AC3E}">
        <p14:creationId xmlns:p14="http://schemas.microsoft.com/office/powerpoint/2010/main" val="73379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479"/>
            <a:ext cx="5503545" cy="1204912"/>
          </a:xfrm>
        </p:spPr>
        <p:txBody>
          <a:bodyPr/>
          <a:lstStyle/>
          <a:p>
            <a:r>
              <a:rPr lang="en-GB" b="1" dirty="0"/>
              <a:t>From Analysis to Design: Figma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3874"/>
            <a:ext cx="5111750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1"/>
            <a:r>
              <a:rPr lang="en-GB" dirty="0"/>
              <a:t>Principles translated to features: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238BE-E005-5C31-B51D-664A50B1A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338962"/>
              </p:ext>
            </p:extLst>
          </p:nvPr>
        </p:nvGraphicFramePr>
        <p:xfrm>
          <a:off x="838200" y="2356482"/>
          <a:ext cx="5958840" cy="36519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022281">
                  <a:extLst>
                    <a:ext uri="{9D8B030D-6E8A-4147-A177-3AD203B41FA5}">
                      <a16:colId xmlns:a16="http://schemas.microsoft.com/office/drawing/2014/main" val="2208975580"/>
                    </a:ext>
                  </a:extLst>
                </a:gridCol>
                <a:gridCol w="3936559">
                  <a:extLst>
                    <a:ext uri="{9D8B030D-6E8A-4147-A177-3AD203B41FA5}">
                      <a16:colId xmlns:a16="http://schemas.microsoft.com/office/drawing/2014/main" val="573787801"/>
                    </a:ext>
                  </a:extLst>
                </a:gridCol>
              </a:tblGrid>
              <a:tr h="919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Principle 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 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141897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In-situ 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Timer + note-taking inside workout view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77127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Shared feedback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Progress visible immediately after set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269034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identity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data model across all functions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989505"/>
                  </a:ext>
                </a:extLst>
              </a:tr>
              <a:tr h="919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Recognition over recall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Library browsing, not searching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4195"/>
                  </a:ext>
                </a:extLst>
              </a:tr>
            </a:tbl>
          </a:graphicData>
        </a:graphic>
      </p:graphicFrame>
      <p:grpSp>
        <p:nvGrpSpPr>
          <p:cNvPr id="10" name="Group 9" descr="Early low-fidelity wireframes illustrating login flow and initial landing screen layout for the fitness application prototype.">
            <a:extLst>
              <a:ext uri="{FF2B5EF4-FFF2-40B4-BE49-F238E27FC236}">
                <a16:creationId xmlns:a16="http://schemas.microsoft.com/office/drawing/2014/main" id="{CFD94ADE-95FE-9C67-BC4F-360D7D29440A}"/>
              </a:ext>
            </a:extLst>
          </p:cNvPr>
          <p:cNvGrpSpPr/>
          <p:nvPr/>
        </p:nvGrpSpPr>
        <p:grpSpPr>
          <a:xfrm>
            <a:off x="6953281" y="2438399"/>
            <a:ext cx="4962813" cy="3168651"/>
            <a:chOff x="0" y="0"/>
            <a:chExt cx="6413382" cy="40944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56C21C-3BC0-37E1-B216-A63465125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20995"/>
              <a:ext cx="1403985" cy="3051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CAB11E8-A315-2679-3AE2-D555BA5BB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0456" y="0"/>
              <a:ext cx="1579245" cy="409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FE2BB7E-9B24-1000-DE9A-7D22C31E08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9"/>
            <a:stretch>
              <a:fillRect/>
            </a:stretch>
          </p:blipFill>
          <p:spPr bwMode="auto">
            <a:xfrm>
              <a:off x="3221665" y="148856"/>
              <a:ext cx="1597025" cy="37909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4B40BE1-2FF4-B142-6D13-05985AB9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2242" y="1116418"/>
              <a:ext cx="1501140" cy="184721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9955661" cy="1325563"/>
          </a:xfrm>
        </p:spPr>
        <p:txBody>
          <a:bodyPr/>
          <a:lstStyle/>
          <a:p>
            <a:pPr algn="l"/>
            <a:r>
              <a:rPr lang="en-GB" b="1" dirty="0"/>
              <a:t>Choosing Our Stack:</a:t>
            </a:r>
            <a:br>
              <a:rPr lang="en-GB" b="1" dirty="0"/>
            </a:br>
            <a:r>
              <a:rPr lang="en-GB" b="1" dirty="0"/>
              <a:t> Native vs. Flutter vs. React</a:t>
            </a:r>
            <a:endParaRPr lang="en-US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F5DF644-3F71-C2CF-F1C8-423EEBC5FB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3" y="2217741"/>
            <a:ext cx="6934437" cy="394452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Android Native (Kotlin)</a:t>
            </a:r>
            <a:endParaRPr lang="en-GB" dirty="0"/>
          </a:p>
          <a:p>
            <a:pPr lvl="1"/>
            <a:r>
              <a:rPr lang="en-GB" b="1" dirty="0"/>
              <a:t>The Metal:</a:t>
            </a:r>
            <a:r>
              <a:rPr lang="en-GB" dirty="0"/>
              <a:t> JVM-based Bytecode.</a:t>
            </a:r>
          </a:p>
          <a:p>
            <a:pPr lvl="1"/>
            <a:r>
              <a:rPr lang="en-GB" b="1" dirty="0"/>
              <a:t>The Win:</a:t>
            </a:r>
            <a:r>
              <a:rPr lang="en-GB" dirty="0"/>
              <a:t> Absolute best performance and smallest footprint for Android-only.</a:t>
            </a:r>
          </a:p>
          <a:p>
            <a:r>
              <a:rPr lang="en-GB" b="1" dirty="0"/>
              <a:t>Flutter (The "Hybrid" King)</a:t>
            </a:r>
            <a:endParaRPr lang="en-GB" dirty="0"/>
          </a:p>
          <a:p>
            <a:pPr lvl="1"/>
            <a:r>
              <a:rPr lang="en-GB" b="1" dirty="0"/>
              <a:t>Dev Mode:</a:t>
            </a:r>
            <a:r>
              <a:rPr lang="en-GB" dirty="0"/>
              <a:t> </a:t>
            </a:r>
            <a:r>
              <a:rPr lang="en-GB" b="1" dirty="0"/>
              <a:t>JIT Compiled</a:t>
            </a:r>
            <a:r>
              <a:rPr lang="en-GB" dirty="0"/>
              <a:t> for instant "Hot Reload" (Speedy coding!).</a:t>
            </a:r>
          </a:p>
          <a:p>
            <a:pPr lvl="1"/>
            <a:r>
              <a:rPr lang="en-GB" b="1" dirty="0"/>
              <a:t>Prod Mode:</a:t>
            </a:r>
            <a:r>
              <a:rPr lang="en-GB" dirty="0"/>
              <a:t> </a:t>
            </a:r>
            <a:r>
              <a:rPr lang="en-GB" b="1" dirty="0"/>
              <a:t>AOT Compiled</a:t>
            </a:r>
            <a:r>
              <a:rPr lang="en-GB" dirty="0"/>
              <a:t> to </a:t>
            </a:r>
            <a:r>
              <a:rPr lang="en-GB" b="1" dirty="0"/>
              <a:t>Native ARM Binary</a:t>
            </a:r>
            <a:r>
              <a:rPr lang="en-GB" dirty="0"/>
              <a:t> (Speedy execution!).</a:t>
            </a:r>
          </a:p>
          <a:p>
            <a:pPr lvl="1"/>
            <a:r>
              <a:rPr lang="en-GB" b="1" dirty="0"/>
              <a:t>The Win:</a:t>
            </a:r>
            <a:r>
              <a:rPr lang="en-GB" dirty="0"/>
              <a:t> Near-native speed with one codebase.</a:t>
            </a:r>
          </a:p>
          <a:p>
            <a:r>
              <a:rPr lang="en-GB" b="1" dirty="0"/>
              <a:t>React Native (The Web Pro)</a:t>
            </a:r>
            <a:endParaRPr lang="en-GB" dirty="0"/>
          </a:p>
          <a:p>
            <a:pPr lvl="1"/>
            <a:r>
              <a:rPr lang="en-GB" b="1" dirty="0"/>
              <a:t>The Metal:</a:t>
            </a:r>
            <a:r>
              <a:rPr lang="en-GB" dirty="0"/>
              <a:t> JavaScript Bridge + JIT Engine.</a:t>
            </a:r>
          </a:p>
          <a:p>
            <a:pPr lvl="1"/>
            <a:r>
              <a:rPr lang="en-GB" b="1" dirty="0"/>
              <a:t>The Win:</a:t>
            </a:r>
            <a:r>
              <a:rPr lang="en-GB" dirty="0"/>
              <a:t> Familiar JSX syntax; perfect for teams coming from Web backgrounds.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45BB-622A-1873-767F-55B8D27A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AE83-64B6-8339-795F-CA8FF444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9955661" cy="1325563"/>
          </a:xfrm>
        </p:spPr>
        <p:txBody>
          <a:bodyPr/>
          <a:lstStyle/>
          <a:p>
            <a:pPr algn="l"/>
            <a:r>
              <a:rPr lang="en-GB" b="1" dirty="0"/>
              <a:t>Tech Stack: One Rep Architecture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CBB60EE6-84EC-0BD1-48A9-E477E4A7492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263EE14A-2514-9FDF-0BB8-A59168FFDF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4B7B41E0-DC25-B744-01E0-4C47963EC59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F1868-FD86-4793-3B1C-BCCB5C078672}"/>
              </a:ext>
            </a:extLst>
          </p:cNvPr>
          <p:cNvSpPr txBox="1"/>
          <p:nvPr/>
        </p:nvSpPr>
        <p:spPr>
          <a:xfrm>
            <a:off x="1885155" y="2100501"/>
            <a:ext cx="6103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One Rep: Technical Architecture</a:t>
            </a:r>
          </a:p>
          <a:p>
            <a:endParaRPr lang="en-GB" dirty="0"/>
          </a:p>
          <a:p>
            <a:r>
              <a:rPr lang="en-GB" dirty="0"/>
              <a:t>[UI] Flutter Widgets ← </a:t>
            </a:r>
            <a:r>
              <a:rPr lang="en-GB" dirty="0" err="1"/>
              <a:t>Riverpod</a:t>
            </a:r>
            <a:r>
              <a:rPr lang="en-GB" dirty="0"/>
              <a:t> Providers</a:t>
            </a:r>
          </a:p>
          <a:p>
            <a:r>
              <a:rPr lang="en-GB" dirty="0"/>
              <a:t>            ↓</a:t>
            </a:r>
          </a:p>
          <a:p>
            <a:r>
              <a:rPr lang="en-GB" dirty="0"/>
              <a:t>[State] </a:t>
            </a:r>
            <a:r>
              <a:rPr lang="en-GB" dirty="0" err="1"/>
              <a:t>Riverpod</a:t>
            </a:r>
            <a:r>
              <a:rPr lang="en-GB" dirty="0"/>
              <a:t> 3.0 (Notifiers, </a:t>
            </a:r>
            <a:r>
              <a:rPr lang="en-GB" dirty="0" err="1"/>
              <a:t>AsyncValue</a:t>
            </a:r>
            <a:r>
              <a:rPr lang="en-GB" dirty="0"/>
              <a:t>)</a:t>
            </a:r>
          </a:p>
          <a:p>
            <a:r>
              <a:rPr lang="en-GB" dirty="0"/>
              <a:t>            ↓</a:t>
            </a:r>
          </a:p>
          <a:p>
            <a:r>
              <a:rPr lang="en-GB" dirty="0"/>
              <a:t>[Repository] Type-safe data layer</a:t>
            </a:r>
          </a:p>
          <a:p>
            <a:r>
              <a:rPr lang="en-GB" dirty="0"/>
              <a:t>            ↓</a:t>
            </a:r>
          </a:p>
          <a:p>
            <a:r>
              <a:rPr lang="en-GB" dirty="0"/>
              <a:t>[Data Source] Drift (SQLite) ← </a:t>
            </a:r>
            <a:r>
              <a:rPr lang="en-GB" dirty="0" err="1"/>
              <a:t>Freezed</a:t>
            </a:r>
            <a:r>
              <a:rPr lang="en-GB" dirty="0"/>
              <a:t> models</a:t>
            </a:r>
          </a:p>
          <a:p>
            <a:r>
              <a:rPr lang="en-GB" dirty="0"/>
              <a:t>            ↓</a:t>
            </a:r>
          </a:p>
          <a:p>
            <a:r>
              <a:rPr lang="en-GB" dirty="0"/>
              <a:t>[Storage] Local .</a:t>
            </a:r>
            <a:r>
              <a:rPr lang="en-GB" dirty="0" err="1"/>
              <a:t>db</a:t>
            </a:r>
            <a:r>
              <a:rPr lang="en-GB" dirty="0"/>
              <a:t> file (offline-first)</a:t>
            </a:r>
          </a:p>
          <a:p>
            <a:endParaRPr lang="en-GB" dirty="0"/>
          </a:p>
          <a:p>
            <a:r>
              <a:rPr lang="en-GB" dirty="0"/>
              <a:t>Supporting: FL Chart, Local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940589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28F0-37B7-C1D1-135F-50092285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63CC-78B7-E917-AD81-DB0B7E382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596" y="2968487"/>
            <a:ext cx="7188808" cy="649357"/>
          </a:xfrm>
        </p:spPr>
        <p:txBody>
          <a:bodyPr/>
          <a:lstStyle/>
          <a:p>
            <a:pPr algn="ctr"/>
            <a:r>
              <a:rPr lang="en-GB" b="1" dirty="0"/>
              <a:t>SECTION 5: THE DEMO </a:t>
            </a:r>
          </a:p>
        </p:txBody>
      </p:sp>
    </p:spTree>
    <p:extLst>
      <p:ext uri="{BB962C8B-B14F-4D97-AF65-F5344CB8AC3E}">
        <p14:creationId xmlns:p14="http://schemas.microsoft.com/office/powerpoint/2010/main" val="1489992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F664-BE92-78A6-D275-E8C73C54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66F9-AF66-00EC-53E3-F5D6FE70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5" y="202452"/>
            <a:ext cx="9955661" cy="1325563"/>
          </a:xfrm>
        </p:spPr>
        <p:txBody>
          <a:bodyPr/>
          <a:lstStyle/>
          <a:p>
            <a:pPr algn="l"/>
            <a:r>
              <a:rPr lang="en-GB" b="1" dirty="0"/>
              <a:t>Implementation Status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E107CB18-2FDF-685A-FE72-049E862DC1E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16E8F28-8C38-C700-5D54-7F05D86DDE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3E8F612D-22DB-CF82-D079-BE8AE8A11F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A282E-783B-32D7-1BAC-8F98313034FF}"/>
              </a:ext>
            </a:extLst>
          </p:cNvPr>
          <p:cNvSpPr txBox="1"/>
          <p:nvPr/>
        </p:nvSpPr>
        <p:spPr>
          <a:xfrm>
            <a:off x="239234" y="1186153"/>
            <a:ext cx="92857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One Rep: Build Status</a:t>
            </a:r>
          </a:p>
          <a:p>
            <a:endParaRPr lang="en-GB" dirty="0"/>
          </a:p>
          <a:p>
            <a:r>
              <a:rPr lang="en-GB" dirty="0"/>
              <a:t>COMPLETE:</a:t>
            </a:r>
          </a:p>
          <a:p>
            <a:r>
              <a:rPr lang="en-GB" dirty="0"/>
              <a:t>- Database schema (5 tables, relations)</a:t>
            </a:r>
          </a:p>
          <a:p>
            <a:r>
              <a:rPr lang="en-GB" dirty="0"/>
              <a:t>- Exercise library with CRUD</a:t>
            </a:r>
          </a:p>
          <a:p>
            <a:r>
              <a:rPr lang="en-GB" dirty="0"/>
              <a:t>- Auto-seeding on first launch</a:t>
            </a:r>
          </a:p>
          <a:p>
            <a:r>
              <a:rPr lang="en-GB" dirty="0"/>
              <a:t>- Reactive streams (Drift → </a:t>
            </a:r>
            <a:r>
              <a:rPr lang="en-GB" dirty="0" err="1"/>
              <a:t>Riverpod</a:t>
            </a:r>
            <a:r>
              <a:rPr lang="en-GB" dirty="0"/>
              <a:t> → UI)</a:t>
            </a:r>
          </a:p>
          <a:p>
            <a:r>
              <a:rPr lang="en-GB" dirty="0"/>
              <a:t>- Repository pattern, layered architecture</a:t>
            </a:r>
          </a:p>
          <a:p>
            <a:r>
              <a:rPr lang="en-GB" dirty="0"/>
              <a:t>- </a:t>
            </a:r>
            <a:r>
              <a:rPr lang="en-GB" dirty="0" err="1"/>
              <a:t>Freezed</a:t>
            </a:r>
            <a:r>
              <a:rPr lang="en-GB" dirty="0"/>
              <a:t> models for type safety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BA518-B5B1-4480-08BD-D61EE5D5D941}"/>
              </a:ext>
            </a:extLst>
          </p:cNvPr>
          <p:cNvSpPr txBox="1"/>
          <p:nvPr/>
        </p:nvSpPr>
        <p:spPr>
          <a:xfrm>
            <a:off x="6686550" y="5032176"/>
            <a:ext cx="6103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PLANNED:</a:t>
            </a:r>
          </a:p>
          <a:p>
            <a:r>
              <a:rPr lang="en-GB" dirty="0"/>
              <a:t>- Usability testing protocol</a:t>
            </a:r>
          </a:p>
          <a:p>
            <a:r>
              <a:rPr lang="en-GB" dirty="0"/>
              <a:t>- Comparative task analysis</a:t>
            </a:r>
          </a:p>
          <a:p>
            <a:r>
              <a:rPr lang="en-GB" dirty="0"/>
              <a:t>- Cognitive load measurement (NASA-TLX)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E31D1-9C4C-8200-6A40-83CBADE88686}"/>
              </a:ext>
            </a:extLst>
          </p:cNvPr>
          <p:cNvSpPr txBox="1"/>
          <p:nvPr/>
        </p:nvSpPr>
        <p:spPr>
          <a:xfrm>
            <a:off x="3581400" y="3433327"/>
            <a:ext cx="6743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dirty="0"/>
              <a:t>IN PROGRESS / NEXT:</a:t>
            </a:r>
          </a:p>
          <a:p>
            <a:r>
              <a:rPr lang="en-GB" dirty="0"/>
              <a:t>- Workout routines (builder view)</a:t>
            </a:r>
          </a:p>
          <a:p>
            <a:r>
              <a:rPr lang="en-GB" dirty="0"/>
              <a:t>- Active session with set logging</a:t>
            </a:r>
          </a:p>
          <a:p>
            <a:r>
              <a:rPr lang="en-GB" dirty="0"/>
              <a:t>- Rest timer (Local Notifications)</a:t>
            </a:r>
          </a:p>
          <a:p>
            <a:r>
              <a:rPr lang="en-GB" dirty="0"/>
              <a:t>- Progress charts (FL Chart)</a:t>
            </a:r>
          </a:p>
        </p:txBody>
      </p:sp>
    </p:spTree>
    <p:extLst>
      <p:ext uri="{BB962C8B-B14F-4D97-AF65-F5344CB8AC3E}">
        <p14:creationId xmlns:p14="http://schemas.microsoft.com/office/powerpoint/2010/main" val="1756534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BE59-2A1C-3CD1-9980-81DF1247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3819-19AA-E915-9DC0-7198336B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401915"/>
            <a:ext cx="9955661" cy="1325563"/>
          </a:xfrm>
        </p:spPr>
        <p:txBody>
          <a:bodyPr/>
          <a:lstStyle/>
          <a:p>
            <a:pPr algn="l"/>
            <a:r>
              <a:rPr lang="en-GB" b="1" dirty="0"/>
              <a:t>Contribution &amp; Closing</a:t>
            </a:r>
            <a:endParaRPr lang="en-GB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149522D2-7D8A-3C6E-5318-EB7776E435E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92999C97-A619-754F-AA0A-767A6B31AA0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F2D17244-0562-B768-786C-869C30238EC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8928A-E405-838E-EB07-ECABE9F5CF2F}"/>
              </a:ext>
            </a:extLst>
          </p:cNvPr>
          <p:cNvSpPr txBox="1"/>
          <p:nvPr/>
        </p:nvSpPr>
        <p:spPr>
          <a:xfrm>
            <a:off x="918210" y="1586865"/>
            <a:ext cx="86144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Contribution Summary</a:t>
            </a:r>
          </a:p>
          <a:p>
            <a:endParaRPr lang="en-GB" dirty="0"/>
          </a:p>
          <a:p>
            <a:r>
              <a:rPr lang="en-GB" dirty="0"/>
              <a:t>1. ANALYTICAL</a:t>
            </a:r>
          </a:p>
          <a:p>
            <a:r>
              <a:rPr lang="en-GB" dirty="0"/>
              <a:t>- Comparative cognitive walkthrough (Meta vs WeChat)</a:t>
            </a:r>
          </a:p>
          <a:p>
            <a:r>
              <a:rPr lang="en-GB" dirty="0"/>
              <a:t>- Extracted transferable design principles for unified journeys</a:t>
            </a:r>
          </a:p>
          <a:p>
            <a:endParaRPr lang="en-GB" dirty="0"/>
          </a:p>
          <a:p>
            <a:r>
              <a:rPr lang="en-GB" dirty="0"/>
              <a:t>2. TECHNICAL (in progress)</a:t>
            </a:r>
          </a:p>
          <a:p>
            <a:r>
              <a:rPr lang="en-GB" dirty="0"/>
              <a:t>- Implemented offline-first, reactive fitness app architecture</a:t>
            </a:r>
          </a:p>
          <a:p>
            <a:r>
              <a:rPr lang="en-GB" dirty="0"/>
              <a:t>- Demonstrates feasibility of multifunctional design in Flutter/Drift</a:t>
            </a:r>
          </a:p>
          <a:p>
            <a:endParaRPr lang="en-GB" dirty="0"/>
          </a:p>
          <a:p>
            <a:r>
              <a:rPr lang="en-GB" dirty="0"/>
              <a:t>3. EMPIRICAL (in progress)</a:t>
            </a:r>
          </a:p>
          <a:p>
            <a:r>
              <a:rPr lang="en-GB" dirty="0"/>
              <a:t>- Autoethnographic baseline data (real fragmentation metrics)</a:t>
            </a:r>
          </a:p>
          <a:p>
            <a:r>
              <a:rPr lang="en-GB" dirty="0"/>
              <a:t>- Planned usability study to evaluate fragmentation reduction</a:t>
            </a:r>
          </a:p>
          <a:p>
            <a:endParaRPr lang="en-GB" dirty="0"/>
          </a:p>
          <a:p>
            <a:r>
              <a:rPr lang="en-GB" dirty="0"/>
              <a:t>One Rep is not just an app. It's an instrument to investigate a question.</a:t>
            </a:r>
          </a:p>
        </p:txBody>
      </p:sp>
    </p:spTree>
    <p:extLst>
      <p:ext uri="{BB962C8B-B14F-4D97-AF65-F5344CB8AC3E}">
        <p14:creationId xmlns:p14="http://schemas.microsoft.com/office/powerpoint/2010/main" val="2115528078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{F5102261-C1FB-4C06-B5CB-027788FE3513}TF1ed81438-95a7-4ae9-841d-43ea2c64f7fc8ae7ff09_win32-aa52a5bb69e3</Template>
  <TotalTime>240</TotalTime>
  <Words>1051</Words>
  <Application>Microsoft Office PowerPoint</Application>
  <PresentationFormat>Widescreen</PresentationFormat>
  <Paragraphs>215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Monoline</vt:lpstr>
      <vt:lpstr>From Fragmented Journeys to Unified Experiences:  Investigating Multifunctional Mobile App Design Through a Fitness Case Study</vt:lpstr>
      <vt:lpstr>SECTION 1: THE PROBLEM </vt:lpstr>
      <vt:lpstr>The Problem:  Fragmented Digital Journeys</vt:lpstr>
      <vt:lpstr> Autoethnography:  Measuring the Fragmentation</vt:lpstr>
      <vt:lpstr>SECTION 2: THE LITERATURE</vt:lpstr>
      <vt:lpstr>Theoretical Framework</vt:lpstr>
      <vt:lpstr>Service Design &amp; The Journey Turn</vt:lpstr>
      <vt:lpstr>SECTION 3: THE ANALYSIS</vt:lpstr>
      <vt:lpstr>Cognitive Walkthrough: Two Paradigms </vt:lpstr>
      <vt:lpstr>The Meta Trap</vt:lpstr>
      <vt:lpstr>WeChat: The Encapsulated Super-App</vt:lpstr>
      <vt:lpstr>Synthesis: What We Learn</vt:lpstr>
      <vt:lpstr>SECTION 4: THE RESPONSE</vt:lpstr>
      <vt:lpstr>From Analysis to Design: Figma</vt:lpstr>
      <vt:lpstr>Choosing Our Stack:  Native vs. Flutter vs. React</vt:lpstr>
      <vt:lpstr>Tech Stack: One Rep Architecture</vt:lpstr>
      <vt:lpstr>SECTION 5: THE DEMO </vt:lpstr>
      <vt:lpstr>Implementation Status</vt:lpstr>
      <vt:lpstr>Contribution &amp; 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MARWAN ASHHUBY</dc:creator>
  <cp:lastModifiedBy>MARWAN ASHHUBY</cp:lastModifiedBy>
  <cp:revision>6</cp:revision>
  <dcterms:created xsi:type="dcterms:W3CDTF">2026-02-12T20:39:23Z</dcterms:created>
  <dcterms:modified xsi:type="dcterms:W3CDTF">2026-02-13T00:39:51Z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