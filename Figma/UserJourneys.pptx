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940BB-7D3C-65E7-B349-A62B46550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0E0EF-D6F3-5922-1F97-E6F49ECDF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FE581-63F8-8F36-D554-34F50E5FC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E4FF9-D996-4CBE-897B-AD5EC02FEFFF}" type="datetimeFigureOut">
              <a:rPr lang="en-GB" smtClean="0"/>
              <a:t>11/04/2026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66AA4-EE77-A5AF-914D-4FC19FBC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F6454-9E71-A696-1D85-182191A1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EFEE-AC27-44B2-AC0E-180A5F779E2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798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49F9-683A-596F-1A0C-422F5C4CF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91247-3BE7-CB2C-EC80-A348C58BA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5FB20-6296-55A7-214F-ABAE17C67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E4FF9-D996-4CBE-897B-AD5EC02FEFFF}" type="datetimeFigureOut">
              <a:rPr lang="en-GB" smtClean="0"/>
              <a:t>11/04/2026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84C72-A5DC-CFF9-E814-51E06D182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9B876-9A1B-E88D-EBF9-49D3BFF03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EFEE-AC27-44B2-AC0E-180A5F779E2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384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ED6D3-5572-E012-DB4A-3C4C6DB0E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C8CAB-3371-7266-84CE-BAE0E3204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DBB56-E87D-C4E5-995A-C307F811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E4FF9-D996-4CBE-897B-AD5EC02FEFFF}" type="datetimeFigureOut">
              <a:rPr lang="en-GB" smtClean="0"/>
              <a:t>11/04/2026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485A2-4898-510D-8926-52E92163E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75DA5-F314-644F-8C93-7B4FF7630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EFEE-AC27-44B2-AC0E-180A5F779E2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5360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FE5E-37BB-FD2A-96D6-A2C78EAE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7D127-BE83-5664-E884-9B65FD3D7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88A65-D5BB-CCAC-8A13-496273B6C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04B54-70D8-DECB-018E-6FB509A6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E4FF9-D996-4CBE-897B-AD5EC02FEFFF}" type="datetimeFigureOut">
              <a:rPr lang="en-GB" smtClean="0"/>
              <a:t>11/04/2026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7F532-83A1-4A3C-86A3-5BB784250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C36D2-B253-ECA8-2213-D60D81CE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EFEE-AC27-44B2-AC0E-180A5F779E2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5305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6C8FF-FC74-5D67-1856-767080CA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09FFF-7A3C-C536-1D86-56578D787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A906E-6298-7EBB-C009-51B581BC2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CE08D-DB54-DDF7-C83B-24EE61E82C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211396-EF32-270E-3975-23CF9964A9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3C1253-BB85-82EA-526F-42AF85256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E4FF9-D996-4CBE-897B-AD5EC02FEFFF}" type="datetimeFigureOut">
              <a:rPr lang="en-GB" smtClean="0"/>
              <a:t>11/04/2026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30E68D-8DDC-FC8B-4156-DEA8912DF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D85806-9257-6880-C1E1-DF7FEB153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EFEE-AC27-44B2-AC0E-180A5F779E2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285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D2EC8-98E2-D0C8-D1AF-614D43B90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8E13E-B029-24AB-4A52-82EA3036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E4FF9-D996-4CBE-897B-AD5EC02FEFFF}" type="datetimeFigureOut">
              <a:rPr lang="en-GB" smtClean="0"/>
              <a:t>11/04/2026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E1BE2-44FA-97A5-CB14-EC3D468F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DDC22-3776-0469-9851-9800B22DB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EFEE-AC27-44B2-AC0E-180A5F779E2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756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1E5B04-5721-2A46-8676-EE09E96A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E4FF9-D996-4CBE-897B-AD5EC02FEFFF}" type="datetimeFigureOut">
              <a:rPr lang="en-GB" smtClean="0"/>
              <a:t>11/04/2026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70572-B034-2BDB-C7EA-4E6FA6688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7B315-30C0-0EE0-3B8D-DA53B1B5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EFEE-AC27-44B2-AC0E-180A5F779E2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8422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332B-3D80-0D5E-EE03-4230800D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004D3-9C56-EF35-4BDB-D40F9E70D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C16F2-840B-CC53-A45F-481E9A309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A7006-633E-AED5-4D48-E6FAB44A7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E4FF9-D996-4CBE-897B-AD5EC02FEFFF}" type="datetimeFigureOut">
              <a:rPr lang="en-GB" smtClean="0"/>
              <a:t>11/04/2026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7D29D-44D3-1A22-9AFD-16310D5E4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459B9-C138-97F3-A323-AD2FE97F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EFEE-AC27-44B2-AC0E-180A5F779E2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424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5D88-A6F8-0058-5F10-C0623F56C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79D70E-EAC2-3DF2-2BAC-DB9F2A441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9E405-DF46-6BB5-C818-FBA5F0429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388D7-069F-2FE8-91DF-478448603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E4FF9-D996-4CBE-897B-AD5EC02FEFFF}" type="datetimeFigureOut">
              <a:rPr lang="en-GB" smtClean="0"/>
              <a:t>11/04/2026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C4EC4-1CB1-EAB6-79AD-D259789BE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7B0EF-A518-4837-6886-455E23AE6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EFEE-AC27-44B2-AC0E-180A5F779E2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1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2F65-8B01-F192-94BF-9F397B62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DBDD5-9514-1C1A-F315-7B4413EDE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5D078-4479-D323-FA90-A5ADF94E7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E4FF9-D996-4CBE-897B-AD5EC02FEFFF}" type="datetimeFigureOut">
              <a:rPr lang="en-GB" smtClean="0"/>
              <a:t>11/04/2026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BE2AD-3AC4-BA97-6323-EBD265344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3631-6453-2806-CE21-8EC7C7B55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EFEE-AC27-44B2-AC0E-180A5F779E2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6588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D335D9-5D6A-1CBA-EED4-51D6EF0FB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FE783-6C69-AE30-4A68-840958786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A846F-CA40-AD80-5B06-0DAD76295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E4FF9-D996-4CBE-897B-AD5EC02FEFFF}" type="datetimeFigureOut">
              <a:rPr lang="en-GB" smtClean="0"/>
              <a:t>11/04/2026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91BC9-3124-6AD4-1D58-80BC586E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29BB3-0BA9-102D-AA88-35C66706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EFEE-AC27-44B2-AC0E-180A5F779E2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433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D2AA0A-5B46-3B8E-9D2D-7633DBBCF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A42E5-5200-A28E-E1AB-C0B227D4D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CDD51-21FF-98A9-0CE3-DAE582A156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1E4FF9-D996-4CBE-897B-AD5EC02FEFFF}" type="datetimeFigureOut">
              <a:rPr lang="en-GB" smtClean="0"/>
              <a:t>11/04/2026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491AA-64F7-84F8-0957-3A8F9CAD1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986B-DD5E-3616-F567-7A1F29EEF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BEFEE-AC27-44B2-AC0E-180A5F779E2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5504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BFB19C-7C46-4B9F-D15D-681FF76F1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157102"/>
              </p:ext>
            </p:extLst>
          </p:nvPr>
        </p:nvGraphicFramePr>
        <p:xfrm>
          <a:off x="470453" y="434744"/>
          <a:ext cx="10537688" cy="51769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5384">
                  <a:extLst>
                    <a:ext uri="{9D8B030D-6E8A-4147-A177-3AD203B41FA5}">
                      <a16:colId xmlns:a16="http://schemas.microsoft.com/office/drawing/2014/main" val="3287586870"/>
                    </a:ext>
                  </a:extLst>
                </a:gridCol>
                <a:gridCol w="1505384">
                  <a:extLst>
                    <a:ext uri="{9D8B030D-6E8A-4147-A177-3AD203B41FA5}">
                      <a16:colId xmlns:a16="http://schemas.microsoft.com/office/drawing/2014/main" val="2171908519"/>
                    </a:ext>
                  </a:extLst>
                </a:gridCol>
                <a:gridCol w="1505384">
                  <a:extLst>
                    <a:ext uri="{9D8B030D-6E8A-4147-A177-3AD203B41FA5}">
                      <a16:colId xmlns:a16="http://schemas.microsoft.com/office/drawing/2014/main" val="1559533124"/>
                    </a:ext>
                  </a:extLst>
                </a:gridCol>
                <a:gridCol w="1505384">
                  <a:extLst>
                    <a:ext uri="{9D8B030D-6E8A-4147-A177-3AD203B41FA5}">
                      <a16:colId xmlns:a16="http://schemas.microsoft.com/office/drawing/2014/main" val="522636588"/>
                    </a:ext>
                  </a:extLst>
                </a:gridCol>
                <a:gridCol w="1505384">
                  <a:extLst>
                    <a:ext uri="{9D8B030D-6E8A-4147-A177-3AD203B41FA5}">
                      <a16:colId xmlns:a16="http://schemas.microsoft.com/office/drawing/2014/main" val="1038848556"/>
                    </a:ext>
                  </a:extLst>
                </a:gridCol>
                <a:gridCol w="1505384">
                  <a:extLst>
                    <a:ext uri="{9D8B030D-6E8A-4147-A177-3AD203B41FA5}">
                      <a16:colId xmlns:a16="http://schemas.microsoft.com/office/drawing/2014/main" val="84781066"/>
                    </a:ext>
                  </a:extLst>
                </a:gridCol>
                <a:gridCol w="1505384">
                  <a:extLst>
                    <a:ext uri="{9D8B030D-6E8A-4147-A177-3AD203B41FA5}">
                      <a16:colId xmlns:a16="http://schemas.microsoft.com/office/drawing/2014/main" val="2480088383"/>
                    </a:ext>
                  </a:extLst>
                </a:gridCol>
              </a:tblGrid>
              <a:tr h="834212">
                <a:tc>
                  <a:txBody>
                    <a:bodyPr/>
                    <a:lstStyle/>
                    <a:p>
                      <a:pPr algn="l"/>
                      <a:r>
                        <a:rPr lang="en-GB" sz="1200" dirty="0"/>
                        <a:t>Figure 3.1 — Gym Session User Journey: Fragmented Tool Approach</a:t>
                      </a:r>
                      <a:endParaRPr lang="en-GB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 dirty="0"/>
                        <a:t>Pre-Session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 dirty="0"/>
                        <a:t>Warm-Up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 dirty="0"/>
                        <a:t>Working 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 dirty="0"/>
                        <a:t>Rest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 dirty="0"/>
                        <a:t>Session 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 dirty="0"/>
                        <a:t>Post-Session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7147760"/>
                  </a:ext>
                </a:extLst>
              </a:tr>
              <a:tr h="834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Open Notes, find last session table, open Clock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Begin exercise, try to recall last weights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Log set in Notes → switch to Clock → switch back to Notes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Watch Clock timer, switch to Notes to check next exercise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Close all apps, Notes table grows unwieldy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Scroll Notes for trends, no graphs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330170"/>
                  </a:ext>
                </a:extLst>
              </a:tr>
              <a:tr h="834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Notes app + Clock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Notes app +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Notes app + Clock app (constant switching)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Clock app + Notes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Notes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Notes app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846160"/>
                  </a:ext>
                </a:extLst>
              </a:tr>
              <a:tr h="834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PAIN 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Multiple apps to open, slow to find last entry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Risk of misremembering weights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3–4 app switches per set, context lost each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Timer in wrong app, must switch to check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Unstructured data accumulation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No graphs, must delete data periodically — permanent loss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323408"/>
                  </a:ext>
                </a:extLst>
              </a:tr>
              <a:tr h="834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EMOTION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😐 Neutral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🙂 Okay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😤 Frustrated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😤 Frustrated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😩 Dissatisfied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😞 Disappointed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383372"/>
                  </a:ext>
                </a:extLst>
              </a:tr>
              <a:tr h="834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COGNITIVE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Medium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Medium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Very High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High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Medium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High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750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747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D60547-3BD4-3EED-BCF1-48C93DBCA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641005"/>
              </p:ext>
            </p:extLst>
          </p:nvPr>
        </p:nvGraphicFramePr>
        <p:xfrm>
          <a:off x="470453" y="434744"/>
          <a:ext cx="10537688" cy="50052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5384">
                  <a:extLst>
                    <a:ext uri="{9D8B030D-6E8A-4147-A177-3AD203B41FA5}">
                      <a16:colId xmlns:a16="http://schemas.microsoft.com/office/drawing/2014/main" val="3287586870"/>
                    </a:ext>
                  </a:extLst>
                </a:gridCol>
                <a:gridCol w="1505384">
                  <a:extLst>
                    <a:ext uri="{9D8B030D-6E8A-4147-A177-3AD203B41FA5}">
                      <a16:colId xmlns:a16="http://schemas.microsoft.com/office/drawing/2014/main" val="2171908519"/>
                    </a:ext>
                  </a:extLst>
                </a:gridCol>
                <a:gridCol w="1505384">
                  <a:extLst>
                    <a:ext uri="{9D8B030D-6E8A-4147-A177-3AD203B41FA5}">
                      <a16:colId xmlns:a16="http://schemas.microsoft.com/office/drawing/2014/main" val="1559533124"/>
                    </a:ext>
                  </a:extLst>
                </a:gridCol>
                <a:gridCol w="1505384">
                  <a:extLst>
                    <a:ext uri="{9D8B030D-6E8A-4147-A177-3AD203B41FA5}">
                      <a16:colId xmlns:a16="http://schemas.microsoft.com/office/drawing/2014/main" val="522636588"/>
                    </a:ext>
                  </a:extLst>
                </a:gridCol>
                <a:gridCol w="1505384">
                  <a:extLst>
                    <a:ext uri="{9D8B030D-6E8A-4147-A177-3AD203B41FA5}">
                      <a16:colId xmlns:a16="http://schemas.microsoft.com/office/drawing/2014/main" val="1038848556"/>
                    </a:ext>
                  </a:extLst>
                </a:gridCol>
                <a:gridCol w="1505384">
                  <a:extLst>
                    <a:ext uri="{9D8B030D-6E8A-4147-A177-3AD203B41FA5}">
                      <a16:colId xmlns:a16="http://schemas.microsoft.com/office/drawing/2014/main" val="84781066"/>
                    </a:ext>
                  </a:extLst>
                </a:gridCol>
                <a:gridCol w="1505384">
                  <a:extLst>
                    <a:ext uri="{9D8B030D-6E8A-4147-A177-3AD203B41FA5}">
                      <a16:colId xmlns:a16="http://schemas.microsoft.com/office/drawing/2014/main" val="2480088383"/>
                    </a:ext>
                  </a:extLst>
                </a:gridCol>
              </a:tblGrid>
              <a:tr h="834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dirty="0"/>
                        <a:t>Figure 3.2 — Gym Session User Journey: OneRep Unified Approach</a:t>
                      </a:r>
                      <a:endParaRPr lang="en-GB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Pre-Session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Warm-Up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Working 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Rest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Session 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Post-Session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7147760"/>
                  </a:ext>
                </a:extLst>
              </a:tr>
              <a:tr h="834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Open OneRep, select today's routine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Session starts, exercises listed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Log set, rest timer starts automatically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Rest timer counts down on same screen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Tap Finish, session saved automatically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Navigate to Progress tab, view exercise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330170"/>
                  </a:ext>
                </a:extLst>
              </a:tr>
              <a:tr h="834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OneRep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OneRep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OneRep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OneRep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OneRep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OneRep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846160"/>
                  </a:ext>
                </a:extLst>
              </a:tr>
              <a:tr h="834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PAIN 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323408"/>
                  </a:ext>
                </a:extLst>
              </a:tr>
              <a:tr h="834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EMOTION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🙂 Ready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😊 Comfortable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💪 Focused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😌 Relaxed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😊 Satisfied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😄 Motivated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383372"/>
                  </a:ext>
                </a:extLst>
              </a:tr>
              <a:tr h="834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COGNITIVE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0" dirty="0"/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750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446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284</Words>
  <Application>Microsoft Office PowerPoint</Application>
  <PresentationFormat>Widescreen</PresentationFormat>
  <Paragraphs>84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MARWAN ASHHUBY</dc:creator>
  <cp:lastModifiedBy>MARWAN ASHHUBY</cp:lastModifiedBy>
  <cp:revision>1</cp:revision>
  <dcterms:created xsi:type="dcterms:W3CDTF">2026-04-11T14:54:51Z</dcterms:created>
  <dcterms:modified xsi:type="dcterms:W3CDTF">2026-04-11T15:28:50Z</dcterms:modified>
</cp:coreProperties>
</file>